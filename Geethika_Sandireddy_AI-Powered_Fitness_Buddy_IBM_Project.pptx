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49" d="100"/>
          <a:sy n="49" d="100"/>
        </p:scale>
        <p:origin x="1312" y="26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9720" y="220588"/>
            <a:ext cx="3055743" cy="410170"/>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7/8/2026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24890" y="292608"/>
            <a:ext cx="6401563" cy="663724"/>
          </a:xfrm>
          <a:prstGeom prst="rect">
            <a:avLst/>
          </a:prstGeom>
        </p:spPr>
        <p:txBody>
          <a:bodyPr wrap="square" lIns="0" tIns="0" rIns="0" bIns="0">
            <a:spAutoFit/>
          </a:bodyPr>
          <a:lstStyle>
            <a:lvl1pPr>
              <a:defRPr sz="2400" b="1" i="0">
                <a:solidFill>
                  <a:schemeClr val="tx1"/>
                </a:solidFill>
                <a:latin typeface="Arial"/>
                <a:cs typeface="Arial"/>
              </a:defRPr>
            </a:lvl1pPr>
          </a:lstStyle>
          <a:p>
            <a:endParaRPr/>
          </a:p>
        </p:txBody>
      </p:sp>
      <p:sp>
        <p:nvSpPr>
          <p:cNvPr id="3" name="Holder 3"/>
          <p:cNvSpPr>
            <a:spLocks noGrp="1"/>
          </p:cNvSpPr>
          <p:nvPr>
            <p:ph type="body" idx="1"/>
          </p:nvPr>
        </p:nvSpPr>
        <p:spPr>
          <a:xfrm>
            <a:off x="1254807" y="2593964"/>
            <a:ext cx="9484360" cy="216662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7/8/2026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github.com/geethika-sandireddy/AI-Powered-Fitness-Buddy"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58732" y="1764207"/>
            <a:ext cx="9657080" cy="2409248"/>
          </a:xfrm>
          <a:prstGeom prst="rect">
            <a:avLst/>
          </a:prstGeom>
        </p:spPr>
        <p:txBody>
          <a:bodyPr vert="horz" wrap="square" lIns="0" tIns="126364" rIns="0" bIns="0" rtlCol="0">
            <a:spAutoFit/>
          </a:bodyPr>
          <a:lstStyle/>
          <a:p>
            <a:pPr marL="1525905" marR="5080" indent="-1513840">
              <a:lnSpc>
                <a:spcPts val="7130"/>
              </a:lnSpc>
              <a:spcBef>
                <a:spcPts val="994"/>
              </a:spcBef>
            </a:pPr>
            <a:r>
              <a:rPr sz="6600" dirty="0">
                <a:latin typeface="Calibri"/>
                <a:cs typeface="Calibri"/>
              </a:rPr>
              <a:t>IBM</a:t>
            </a:r>
            <a:r>
              <a:rPr sz="6600" spc="-145" dirty="0">
                <a:latin typeface="Calibri"/>
                <a:cs typeface="Calibri"/>
              </a:rPr>
              <a:t> </a:t>
            </a:r>
            <a:r>
              <a:rPr sz="6600" spc="-20" dirty="0">
                <a:latin typeface="Calibri"/>
                <a:cs typeface="Calibri"/>
              </a:rPr>
              <a:t>University</a:t>
            </a:r>
            <a:r>
              <a:rPr sz="6600" spc="-140" dirty="0">
                <a:latin typeface="Calibri"/>
                <a:cs typeface="Calibri"/>
              </a:rPr>
              <a:t> </a:t>
            </a:r>
            <a:r>
              <a:rPr sz="6600" spc="-10" dirty="0">
                <a:latin typeface="Calibri"/>
                <a:cs typeface="Calibri"/>
              </a:rPr>
              <a:t>Engagement </a:t>
            </a:r>
            <a:r>
              <a:rPr sz="6600" dirty="0">
                <a:latin typeface="Calibri"/>
                <a:cs typeface="Calibri"/>
              </a:rPr>
              <a:t>Project</a:t>
            </a:r>
            <a:r>
              <a:rPr sz="6600" spc="-310" dirty="0">
                <a:latin typeface="Calibri"/>
                <a:cs typeface="Calibri"/>
              </a:rPr>
              <a:t> </a:t>
            </a:r>
            <a:r>
              <a:rPr sz="6600" spc="-10" dirty="0">
                <a:latin typeface="Calibri"/>
                <a:cs typeface="Calibri"/>
              </a:rPr>
              <a:t>Submission</a:t>
            </a:r>
            <a:endParaRPr sz="6600" dirty="0">
              <a:latin typeface="Calibri"/>
              <a:cs typeface="Calibri"/>
            </a:endParaRPr>
          </a:p>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rPr>
              <a:t>“Exploring the Power of Agentic AI with IBM Cloud and Orchestrate”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825624840"/>
              </p:ext>
            </p:extLst>
          </p:nvPr>
        </p:nvGraphicFramePr>
        <p:xfrm>
          <a:off x="381000" y="2593964"/>
          <a:ext cx="11353801" cy="3121036"/>
        </p:xfrm>
        <a:graphic>
          <a:graphicData uri="http://schemas.openxmlformats.org/drawingml/2006/table">
            <a:tbl>
              <a:tblPr firstRow="1" bandRow="1">
                <a:tableStyleId>{2D5ABB26-0587-4C30-8999-92F81FD0307C}</a:tableStyleId>
              </a:tblPr>
              <a:tblGrid>
                <a:gridCol w="2733251">
                  <a:extLst>
                    <a:ext uri="{9D8B030D-6E8A-4147-A177-3AD203B41FA5}">
                      <a16:colId xmlns:a16="http://schemas.microsoft.com/office/drawing/2014/main" val="20000"/>
                    </a:ext>
                  </a:extLst>
                </a:gridCol>
                <a:gridCol w="2676949">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gridCol w="2209801">
                  <a:extLst>
                    <a:ext uri="{9D8B030D-6E8A-4147-A177-3AD203B41FA5}">
                      <a16:colId xmlns:a16="http://schemas.microsoft.com/office/drawing/2014/main" val="20003"/>
                    </a:ext>
                  </a:extLst>
                </a:gridCol>
              </a:tblGrid>
              <a:tr h="1401355">
                <a:tc>
                  <a:txBody>
                    <a:bodyPr/>
                    <a:lstStyle/>
                    <a:p>
                      <a:pPr>
                        <a:lnSpc>
                          <a:spcPct val="100000"/>
                        </a:lnSpc>
                        <a:spcBef>
                          <a:spcPts val="605"/>
                        </a:spcBef>
                      </a:pPr>
                      <a:endParaRPr sz="1800">
                        <a:latin typeface="Times New Roman"/>
                        <a:cs typeface="Times New Roman"/>
                      </a:endParaRPr>
                    </a:p>
                    <a:p>
                      <a:pPr marL="301625">
                        <a:lnSpc>
                          <a:spcPct val="100000"/>
                        </a:lnSpc>
                        <a:spcBef>
                          <a:spcPts val="5"/>
                        </a:spcBef>
                      </a:pPr>
                      <a:r>
                        <a:rPr sz="1800" dirty="0">
                          <a:latin typeface="Arial MT"/>
                          <a:cs typeface="Arial MT"/>
                        </a:rPr>
                        <a:t>Student</a:t>
                      </a:r>
                      <a:r>
                        <a:rPr sz="1800" spc="-35" dirty="0">
                          <a:latin typeface="Arial MT"/>
                          <a:cs typeface="Arial MT"/>
                        </a:rPr>
                        <a:t> </a:t>
                      </a:r>
                      <a:r>
                        <a:rPr sz="1800" spc="-20" dirty="0">
                          <a:latin typeface="Arial MT"/>
                          <a:cs typeface="Arial MT"/>
                        </a:rPr>
                        <a:t>Name</a:t>
                      </a:r>
                      <a:endParaRPr sz="1800">
                        <a:latin typeface="Arial MT"/>
                        <a:cs typeface="Arial MT"/>
                      </a:endParaRPr>
                    </a:p>
                  </a:txBody>
                  <a:tcPr marL="0" marR="0" marT="768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922655" marR="371475" indent="-546735">
                        <a:lnSpc>
                          <a:spcPct val="100000"/>
                        </a:lnSpc>
                        <a:spcBef>
                          <a:spcPts val="1600"/>
                        </a:spcBef>
                      </a:pPr>
                      <a:r>
                        <a:rPr sz="1800" dirty="0">
                          <a:latin typeface="Arial MT"/>
                          <a:cs typeface="Arial MT"/>
                        </a:rPr>
                        <a:t>Recent</a:t>
                      </a:r>
                      <a:r>
                        <a:rPr sz="1800" spc="-40" dirty="0">
                          <a:latin typeface="Arial MT"/>
                          <a:cs typeface="Arial MT"/>
                        </a:rPr>
                        <a:t> </a:t>
                      </a:r>
                      <a:r>
                        <a:rPr sz="1800" spc="-10" dirty="0">
                          <a:latin typeface="Arial MT"/>
                          <a:cs typeface="Arial MT"/>
                        </a:rPr>
                        <a:t>Passport Photo</a:t>
                      </a:r>
                      <a:endParaRPr sz="1800">
                        <a:latin typeface="Arial MT"/>
                        <a:cs typeface="Arial MT"/>
                      </a:endParaRPr>
                    </a:p>
                  </a:txBody>
                  <a:tcPr marL="0" marR="0" marT="2032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a:lnSpc>
                          <a:spcPct val="100000"/>
                        </a:lnSpc>
                        <a:spcBef>
                          <a:spcPts val="605"/>
                        </a:spcBef>
                      </a:pPr>
                      <a:endParaRPr sz="1800">
                        <a:latin typeface="Times New Roman"/>
                        <a:cs typeface="Times New Roman"/>
                      </a:endParaRPr>
                    </a:p>
                    <a:p>
                      <a:pPr marL="789305">
                        <a:lnSpc>
                          <a:spcPct val="100000"/>
                        </a:lnSpc>
                        <a:spcBef>
                          <a:spcPts val="5"/>
                        </a:spcBef>
                      </a:pPr>
                      <a:r>
                        <a:rPr sz="1800" dirty="0">
                          <a:latin typeface="Arial MT"/>
                          <a:cs typeface="Arial MT"/>
                        </a:rPr>
                        <a:t>Email</a:t>
                      </a:r>
                      <a:r>
                        <a:rPr sz="1800" spc="-25" dirty="0">
                          <a:latin typeface="Arial MT"/>
                          <a:cs typeface="Arial MT"/>
                        </a:rPr>
                        <a:t> ID</a:t>
                      </a:r>
                      <a:endParaRPr sz="1800">
                        <a:latin typeface="Arial MT"/>
                        <a:cs typeface="Arial MT"/>
                      </a:endParaRPr>
                    </a:p>
                  </a:txBody>
                  <a:tcPr marL="0" marR="0" marT="7683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tc>
                  <a:txBody>
                    <a:bodyPr/>
                    <a:lstStyle/>
                    <a:p>
                      <a:pPr marL="630555" marR="459105" indent="-165735">
                        <a:lnSpc>
                          <a:spcPct val="100000"/>
                        </a:lnSpc>
                        <a:spcBef>
                          <a:spcPts val="1600"/>
                        </a:spcBef>
                      </a:pPr>
                      <a:r>
                        <a:rPr sz="1800" dirty="0">
                          <a:latin typeface="Arial MT"/>
                          <a:cs typeface="Arial MT"/>
                        </a:rPr>
                        <a:t>Mobile</a:t>
                      </a:r>
                      <a:r>
                        <a:rPr sz="1800" spc="-30" dirty="0">
                          <a:latin typeface="Arial MT"/>
                          <a:cs typeface="Arial MT"/>
                        </a:rPr>
                        <a:t> </a:t>
                      </a:r>
                      <a:r>
                        <a:rPr sz="1800" spc="-10" dirty="0">
                          <a:latin typeface="Arial MT"/>
                          <a:cs typeface="Arial MT"/>
                        </a:rPr>
                        <a:t>number [WhatsApp]</a:t>
                      </a:r>
                      <a:endParaRPr sz="1800">
                        <a:latin typeface="Arial MT"/>
                        <a:cs typeface="Arial MT"/>
                      </a:endParaRPr>
                    </a:p>
                  </a:txBody>
                  <a:tcPr marL="0" marR="0" marT="20320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B9BD4"/>
                    </a:solidFill>
                  </a:tcPr>
                </a:tc>
                <a:extLst>
                  <a:ext uri="{0D108BD9-81ED-4DB2-BD59-A6C34878D82A}">
                    <a16:rowId xmlns:a16="http://schemas.microsoft.com/office/drawing/2014/main" val="10000"/>
                  </a:ext>
                </a:extLst>
              </a:tr>
              <a:tr h="1719681">
                <a:tc>
                  <a:txBody>
                    <a:bodyPr/>
                    <a:lstStyle/>
                    <a:p>
                      <a:pPr algn="ctr">
                        <a:lnSpc>
                          <a:spcPct val="100000"/>
                        </a:lnSpc>
                      </a:pPr>
                      <a:r>
                        <a:rPr lang="en-US" sz="2100" dirty="0">
                          <a:latin typeface="Arial" panose="020B0604020202020204" pitchFamily="34" charset="0"/>
                          <a:cs typeface="Arial" panose="020B0604020202020204" pitchFamily="34" charset="0"/>
                        </a:rPr>
                        <a:t>Geethika </a:t>
                      </a:r>
                      <a:r>
                        <a:rPr lang="en-US" sz="2100" dirty="0" err="1">
                          <a:latin typeface="Arial" panose="020B0604020202020204" pitchFamily="34" charset="0"/>
                          <a:cs typeface="Arial" panose="020B0604020202020204" pitchFamily="34" charset="0"/>
                        </a:rPr>
                        <a:t>Sandireddy</a:t>
                      </a:r>
                      <a:endParaRPr sz="2100" dirty="0">
                        <a:latin typeface="Arial" panose="020B0604020202020204" pitchFamily="34" charset="0"/>
                        <a:cs typeface="Arial" panose="020B0604020202020204" pitchFamily="34" charset="0"/>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nSpc>
                          <a:spcPct val="100000"/>
                        </a:lnSpc>
                      </a:pP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gn="ctr">
                        <a:lnSpc>
                          <a:spcPct val="100000"/>
                        </a:lnSpc>
                      </a:pPr>
                      <a:r>
                        <a:rPr lang="en-US" sz="2100" dirty="0">
                          <a:latin typeface="Times New Roman"/>
                          <a:cs typeface="Times New Roman"/>
                        </a:rPr>
                        <a:t>sandhireddygeethika@gmail.com</a:t>
                      </a: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tc>
                  <a:txBody>
                    <a:bodyPr/>
                    <a:lstStyle/>
                    <a:p>
                      <a:pPr algn="ctr">
                        <a:lnSpc>
                          <a:spcPct val="100000"/>
                        </a:lnSpc>
                      </a:pPr>
                      <a:r>
                        <a:rPr lang="en-US" sz="2100" dirty="0">
                          <a:latin typeface="Times New Roman"/>
                          <a:cs typeface="Times New Roman"/>
                        </a:rPr>
                        <a:t>9989462623</a:t>
                      </a:r>
                      <a:endParaRPr sz="2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0DEEE"/>
                    </a:solidFill>
                  </a:tcPr>
                </a:tc>
                <a:extLst>
                  <a:ext uri="{0D108BD9-81ED-4DB2-BD59-A6C34878D82A}">
                    <a16:rowId xmlns:a16="http://schemas.microsoft.com/office/drawing/2014/main" val="10001"/>
                  </a:ext>
                </a:extLst>
              </a:tr>
            </a:tbl>
          </a:graphicData>
        </a:graphic>
      </p:graphicFrame>
      <p:sp>
        <p:nvSpPr>
          <p:cNvPr id="4" name="object 4"/>
          <p:cNvSpPr txBox="1"/>
          <p:nvPr/>
        </p:nvSpPr>
        <p:spPr>
          <a:xfrm>
            <a:off x="1279189" y="1473932"/>
            <a:ext cx="2969895" cy="391160"/>
          </a:xfrm>
          <a:prstGeom prst="rect">
            <a:avLst/>
          </a:prstGeom>
        </p:spPr>
        <p:txBody>
          <a:bodyPr vert="horz" wrap="square" lIns="0" tIns="12700" rIns="0" bIns="0" rtlCol="0">
            <a:spAutoFit/>
          </a:bodyPr>
          <a:lstStyle/>
          <a:p>
            <a:pPr marL="12700">
              <a:lnSpc>
                <a:spcPct val="100000"/>
              </a:lnSpc>
              <a:spcBef>
                <a:spcPts val="100"/>
              </a:spcBef>
            </a:pPr>
            <a:r>
              <a:rPr sz="2400" b="1" dirty="0">
                <a:latin typeface="Arial"/>
                <a:cs typeface="Arial"/>
              </a:rPr>
              <a:t>Domain</a:t>
            </a:r>
            <a:r>
              <a:rPr sz="2400" b="1" spc="-35" dirty="0">
                <a:latin typeface="Arial"/>
                <a:cs typeface="Arial"/>
              </a:rPr>
              <a:t> </a:t>
            </a:r>
            <a:r>
              <a:rPr sz="2400" b="1" dirty="0">
                <a:latin typeface="Arial"/>
                <a:cs typeface="Arial"/>
              </a:rPr>
              <a:t>of</a:t>
            </a:r>
            <a:r>
              <a:rPr sz="2400" b="1" spc="-30" dirty="0">
                <a:latin typeface="Arial"/>
                <a:cs typeface="Arial"/>
              </a:rPr>
              <a:t>  </a:t>
            </a:r>
            <a:r>
              <a:rPr sz="2400" b="1" dirty="0">
                <a:latin typeface="Arial"/>
                <a:cs typeface="Arial"/>
              </a:rPr>
              <a:t>Project</a:t>
            </a:r>
            <a:r>
              <a:rPr sz="2400" b="1" spc="-30" dirty="0">
                <a:latin typeface="Arial"/>
                <a:cs typeface="Arial"/>
              </a:rPr>
              <a:t> </a:t>
            </a:r>
            <a:r>
              <a:rPr sz="2400" b="1" spc="-50" dirty="0">
                <a:latin typeface="Arial"/>
                <a:cs typeface="Arial"/>
              </a:rPr>
              <a:t>–</a:t>
            </a:r>
            <a:endParaRPr sz="2400">
              <a:latin typeface="Arial"/>
              <a:cs typeface="Arial"/>
            </a:endParaRPr>
          </a:p>
        </p:txBody>
      </p:sp>
      <p:sp>
        <p:nvSpPr>
          <p:cNvPr id="6" name="object 6" descr="$PPTXTitle"/>
          <p:cNvSpPr txBox="1">
            <a:spLocks noGrp="1"/>
          </p:cNvSpPr>
          <p:nvPr>
            <p:ph type="title"/>
          </p:nvPr>
        </p:nvSpPr>
        <p:spPr>
          <a:xfrm>
            <a:off x="1279187" y="565172"/>
            <a:ext cx="1916430" cy="391160"/>
          </a:xfrm>
          <a:prstGeom prst="rect">
            <a:avLst/>
          </a:prstGeom>
        </p:spPr>
        <p:txBody>
          <a:bodyPr vert="horz" wrap="square" lIns="0" tIns="12700" rIns="0" bIns="0" rtlCol="0">
            <a:spAutoFit/>
          </a:bodyPr>
          <a:lstStyle/>
          <a:p>
            <a:pPr marL="12700">
              <a:lnSpc>
                <a:spcPct val="100000"/>
              </a:lnSpc>
              <a:spcBef>
                <a:spcPts val="100"/>
              </a:spcBef>
            </a:pPr>
            <a:r>
              <a:rPr dirty="0"/>
              <a:t>Project</a:t>
            </a:r>
            <a:r>
              <a:rPr spc="-80" dirty="0"/>
              <a:t> </a:t>
            </a:r>
            <a:r>
              <a:rPr dirty="0"/>
              <a:t>Tile</a:t>
            </a:r>
            <a:r>
              <a:rPr spc="-75" dirty="0"/>
              <a:t> </a:t>
            </a:r>
            <a:r>
              <a:rPr spc="-50" dirty="0"/>
              <a:t>–</a:t>
            </a:r>
          </a:p>
        </p:txBody>
      </p:sp>
      <p:sp>
        <p:nvSpPr>
          <p:cNvPr id="11" name="TextBox 10">
            <a:extLst>
              <a:ext uri="{FF2B5EF4-FFF2-40B4-BE49-F238E27FC236}">
                <a16:creationId xmlns:a16="http://schemas.microsoft.com/office/drawing/2014/main" id="{348581ED-0567-928D-E2E5-E8DE859FEBE3}"/>
              </a:ext>
            </a:extLst>
          </p:cNvPr>
          <p:cNvSpPr txBox="1"/>
          <p:nvPr/>
        </p:nvSpPr>
        <p:spPr>
          <a:xfrm>
            <a:off x="3352800" y="565172"/>
            <a:ext cx="4191000"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AI-Powered Fitness Buddy</a:t>
            </a:r>
          </a:p>
        </p:txBody>
      </p:sp>
      <p:sp>
        <p:nvSpPr>
          <p:cNvPr id="12" name="TextBox 11">
            <a:extLst>
              <a:ext uri="{FF2B5EF4-FFF2-40B4-BE49-F238E27FC236}">
                <a16:creationId xmlns:a16="http://schemas.microsoft.com/office/drawing/2014/main" id="{CC13BEA1-CE52-24EE-0AE9-F34A4122CDC5}"/>
              </a:ext>
            </a:extLst>
          </p:cNvPr>
          <p:cNvSpPr txBox="1"/>
          <p:nvPr/>
        </p:nvSpPr>
        <p:spPr>
          <a:xfrm>
            <a:off x="4419600" y="1473932"/>
            <a:ext cx="2969895" cy="461665"/>
          </a:xfrm>
          <a:prstGeom prst="rect">
            <a:avLst/>
          </a:prstGeom>
          <a:noFill/>
        </p:spPr>
        <p:txBody>
          <a:bodyPr wrap="square" rtlCol="0">
            <a:spAutoFit/>
          </a:bodyPr>
          <a:lstStyle/>
          <a:p>
            <a:r>
              <a:rPr lang="en-US" sz="2400" dirty="0">
                <a:latin typeface="Arial" panose="020B0604020202020204" pitchFamily="34" charset="0"/>
                <a:cs typeface="Arial" panose="020B0604020202020204" pitchFamily="34" charset="0"/>
              </a:rPr>
              <a:t>Healthcare / Fitness</a:t>
            </a:r>
          </a:p>
        </p:txBody>
      </p:sp>
      <p:pic>
        <p:nvPicPr>
          <p:cNvPr id="14" name="Picture 13">
            <a:extLst>
              <a:ext uri="{FF2B5EF4-FFF2-40B4-BE49-F238E27FC236}">
                <a16:creationId xmlns:a16="http://schemas.microsoft.com/office/drawing/2014/main" id="{0646C65A-66DB-A06F-18ED-C5611011333D}"/>
              </a:ext>
            </a:extLst>
          </p:cNvPr>
          <p:cNvPicPr>
            <a:picLocks noChangeAspect="1"/>
          </p:cNvPicPr>
          <p:nvPr/>
        </p:nvPicPr>
        <p:blipFill>
          <a:blip r:embed="rId2"/>
          <a:stretch>
            <a:fillRect/>
          </a:stretch>
        </p:blipFill>
        <p:spPr>
          <a:xfrm>
            <a:off x="3654979" y="3962400"/>
            <a:ext cx="1529242" cy="167783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85800" y="467933"/>
            <a:ext cx="10591800" cy="5922134"/>
          </a:xfrm>
          <a:prstGeom prst="rect">
            <a:avLst/>
          </a:prstGeom>
        </p:spPr>
        <p:txBody>
          <a:bodyPr vert="horz" wrap="square" lIns="0" tIns="12700" rIns="0" bIns="0" rtlCol="0">
            <a:spAutoFit/>
          </a:bodyPr>
          <a:lstStyle/>
          <a:p>
            <a:pPr algn="l"/>
            <a:r>
              <a:rPr lang="en-US" sz="2800" b="1" dirty="0">
                <a:latin typeface="Arial" panose="020B0604020202020204" pitchFamily="34" charset="0"/>
                <a:cs typeface="Arial" panose="020B0604020202020204" pitchFamily="34" charset="0"/>
              </a:rPr>
              <a:t>Problem Statement</a:t>
            </a:r>
          </a:p>
          <a:p>
            <a:pPr algn="l"/>
            <a:endParaRPr lang="en-US" sz="2800" b="1" dirty="0">
              <a:latin typeface="Arial" panose="020B0604020202020204" pitchFamily="34" charset="0"/>
              <a:cs typeface="Arial" panose="020B0604020202020204" pitchFamily="34" charset="0"/>
            </a:endParaRPr>
          </a:p>
          <a:p>
            <a:pPr algn="l"/>
            <a:r>
              <a:rPr lang="en-US" sz="2400" b="1" dirty="0">
                <a:latin typeface="Arial" panose="020B0604020202020204" pitchFamily="34" charset="0"/>
                <a:cs typeface="Arial" panose="020B0604020202020204" pitchFamily="34" charset="0"/>
              </a:rPr>
              <a:t>The Challenge</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Many people struggle to maintain a healthy lifestyle because they lack reliable fitness guidance, structured workout plans, and accurate nutrition advice. Beginners often find confusing information online, making it difficult to choose suitable exercises, maintain consistency, stay hydrated, and follow healthy eating habits safely.</a:t>
            </a:r>
          </a:p>
          <a:p>
            <a:pPr marL="342900" indent="-342900" algn="l">
              <a:buFont typeface="Arial" panose="020B0604020202020204" pitchFamily="34" charset="0"/>
              <a:buChar char="•"/>
            </a:pPr>
            <a:endParaRPr lang="en-US" sz="2000" dirty="0">
              <a:latin typeface="Arial" panose="020B0604020202020204" pitchFamily="34" charset="0"/>
              <a:cs typeface="Arial" panose="020B0604020202020204" pitchFamily="34" charset="0"/>
            </a:endParaRPr>
          </a:p>
          <a:p>
            <a:pPr algn="l"/>
            <a:r>
              <a:rPr lang="en-US" sz="2400" b="1" dirty="0">
                <a:latin typeface="Arial" panose="020B0604020202020204" pitchFamily="34" charset="0"/>
                <a:cs typeface="Arial" panose="020B0604020202020204" pitchFamily="34" charset="0"/>
              </a:rPr>
              <a:t>The Objective</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To address these challenges, this project develops an </a:t>
            </a:r>
            <a:r>
              <a:rPr lang="en-US" sz="2000" b="1" dirty="0">
                <a:latin typeface="Arial" panose="020B0604020202020204" pitchFamily="34" charset="0"/>
                <a:cs typeface="Arial" panose="020B0604020202020204" pitchFamily="34" charset="0"/>
              </a:rPr>
              <a:t>AI-powered Fitness Buddy</a:t>
            </a:r>
            <a:r>
              <a:rPr lang="en-US" sz="2000" dirty="0">
                <a:latin typeface="Arial" panose="020B0604020202020204" pitchFamily="34" charset="0"/>
                <a:cs typeface="Arial" panose="020B0604020202020204" pitchFamily="34" charset="0"/>
              </a:rPr>
              <a:t> using IBM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The assistant helps users:</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Generate beginner workout plans </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Provide healthy eating guidance </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Suggest hydration and recovery practices </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Share muscle gain and weight loss tips </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Answer fitness-related questions using the uploaded Fitness Knowledge Base </a:t>
            </a:r>
          </a:p>
          <a:p>
            <a:pPr marL="342900" indent="-342900" algn="l">
              <a:buFont typeface="Arial" panose="020B0604020202020204" pitchFamily="34" charset="0"/>
              <a:buChar char="•"/>
            </a:pPr>
            <a:r>
              <a:rPr lang="en-US" sz="2000" dirty="0">
                <a:latin typeface="Arial" panose="020B0604020202020204" pitchFamily="34" charset="0"/>
                <a:cs typeface="Arial" panose="020B0604020202020204" pitchFamily="34" charset="0"/>
              </a:rPr>
              <a:t>Deliver beginner-friendly and reliable fitness guidance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38200" y="990600"/>
            <a:ext cx="10342245" cy="4567917"/>
          </a:xfrm>
          <a:prstGeom prst="rect">
            <a:avLst/>
          </a:prstGeom>
        </p:spPr>
        <p:txBody>
          <a:bodyPr vert="horz" wrap="square" lIns="0" tIns="12700" rIns="0" bIns="0" rtlCol="0">
            <a:spAutoFit/>
          </a:bodyPr>
          <a:lstStyle/>
          <a:p>
            <a:r>
              <a:rPr lang="en-US" sz="2800" b="1" dirty="0">
                <a:latin typeface="Arial" panose="020B0604020202020204" pitchFamily="34" charset="0"/>
                <a:cs typeface="Arial" panose="020B0604020202020204" pitchFamily="34" charset="0"/>
              </a:rPr>
              <a:t>Proposed Solution</a:t>
            </a:r>
          </a:p>
          <a:p>
            <a:endParaRPr lang="en-US"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t>The proposed solution is an AI-powered Fitness Buddy developed using IBM </a:t>
            </a:r>
            <a:r>
              <a:rPr lang="en-US" sz="2000" dirty="0" err="1"/>
              <a:t>watsonx</a:t>
            </a:r>
            <a:r>
              <a:rPr lang="en-US" sz="2000" dirty="0"/>
              <a:t> Orchestrate to provide intelligent, accurate, and beginner-friendly fitness guidance.</a:t>
            </a:r>
          </a:p>
          <a:p>
            <a:pPr marL="342900" indent="-342900">
              <a:buFont typeface="Arial" panose="020B0604020202020204" pitchFamily="34" charset="0"/>
              <a:buChar char="•"/>
            </a:pPr>
            <a:r>
              <a:rPr lang="en-US" sz="2000" dirty="0"/>
              <a:t>The assistant retrieves information exclusively from the uploaded Fitness Knowledge Base, ensuring responses remain reliable and knowledge-driven.</a:t>
            </a:r>
          </a:p>
          <a:p>
            <a:pPr marL="342900" indent="-342900">
              <a:buFont typeface="Arial" panose="020B0604020202020204" pitchFamily="34" charset="0"/>
              <a:buChar char="•"/>
            </a:pPr>
            <a:r>
              <a:rPr lang="en-US" sz="2000" dirty="0"/>
              <a:t>The system assists users by providing workout recommendations, healthy eating guidance, hydration advice, recovery suggestions, and fitness tips through natural language conversations.</a:t>
            </a:r>
          </a:p>
          <a:p>
            <a:pPr marL="342900" indent="-342900">
              <a:buFont typeface="Arial" panose="020B0604020202020204" pitchFamily="34" charset="0"/>
              <a:buChar char="•"/>
            </a:pPr>
            <a:r>
              <a:rPr lang="en-US" sz="2000" dirty="0"/>
              <a:t>The agent is configured with customized behavior instructions and guidelines to ensure safe, structured, and beginner-friendly responses while preventing unsupported or misleading information.</a:t>
            </a:r>
          </a:p>
          <a:p>
            <a:pPr marL="342900" indent="-342900">
              <a:buFont typeface="Arial" panose="020B0604020202020204" pitchFamily="34" charset="0"/>
              <a:buChar char="•"/>
            </a:pPr>
            <a:r>
              <a:rPr lang="en-US" sz="2000" dirty="0"/>
              <a:t>Overall, the solution provides an intelligent fitness assistant that encourages healthy lifestyles using IBM Agentic AI.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38200" y="846241"/>
            <a:ext cx="10180955" cy="5781070"/>
          </a:xfrm>
          <a:prstGeom prst="rect">
            <a:avLst/>
          </a:prstGeom>
        </p:spPr>
        <p:txBody>
          <a:bodyPr vert="horz" wrap="square" lIns="0" tIns="12700" rIns="0" bIns="0" rtlCol="0">
            <a:spAutoFit/>
          </a:bodyPr>
          <a:lstStyle/>
          <a:p>
            <a:r>
              <a:rPr lang="en-US" sz="2800" b="1" dirty="0">
                <a:latin typeface="Arial" panose="020B0604020202020204" pitchFamily="34" charset="0"/>
                <a:cs typeface="Arial" panose="020B0604020202020204" pitchFamily="34" charset="0"/>
              </a:rPr>
              <a:t>Technology Used</a:t>
            </a:r>
          </a:p>
          <a:p>
            <a:endParaRPr lang="en-US"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Orchestrate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Used to build and configure the AI-powered Fitness Buddy. Manages the agent's behavior, guidelines, and knowledge retrieval.</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Retrieval-Augmented Generation (RAG)</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Retrieves relevant fitness information from the uploaded Fitness Knowledge Base before generating responses, ensuring accurate and knowledge-based answers.</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IBM Foundation Model</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Powers natural language understanding, reasoning, and response generation for the Fitness Buddy agent.</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Fitness Knowledge Base</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Serves as the trusted knowledge source containing beginner workout plans, healthy eating guidance, hydration advice, muscle gain tips, weight loss recommendations, recovery practices, and fitness FAQs.</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IBM Cloud</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Provides the cloud platform for hosting and running IBM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 services.</a:t>
            </a:r>
          </a:p>
          <a:p>
            <a:pPr marL="12700">
              <a:lnSpc>
                <a:spcPct val="100000"/>
              </a:lnSpc>
              <a:spcBef>
                <a:spcPts val="100"/>
              </a:spcBef>
              <a:tabLst>
                <a:tab pos="263525" algn="l"/>
              </a:tabLst>
            </a:pPr>
            <a:endParaRPr sz="18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270DC5E-B136-16F8-C5A8-B93C50334BF7}"/>
              </a:ext>
            </a:extLst>
          </p:cNvPr>
          <p:cNvSpPr txBox="1"/>
          <p:nvPr/>
        </p:nvSpPr>
        <p:spPr>
          <a:xfrm>
            <a:off x="457200" y="243512"/>
            <a:ext cx="11277600" cy="6370975"/>
          </a:xfrm>
          <a:prstGeom prst="rect">
            <a:avLst/>
          </a:prstGeom>
          <a:noFill/>
        </p:spPr>
        <p:txBody>
          <a:bodyPr wrap="square" rtlCol="0">
            <a:spAutoFit/>
          </a:bodyPr>
          <a:lstStyle/>
          <a:p>
            <a:r>
              <a:rPr lang="en-US" sz="2800" b="1" dirty="0">
                <a:latin typeface="Arial" panose="020B0604020202020204" pitchFamily="34" charset="0"/>
                <a:cs typeface="Arial" panose="020B0604020202020204" pitchFamily="34" charset="0"/>
              </a:rPr>
              <a:t>Orchestrate component Used -</a:t>
            </a:r>
          </a:p>
          <a:p>
            <a:r>
              <a:rPr lang="en-US" sz="2000" b="1" dirty="0">
                <a:latin typeface="Arial" panose="020B0604020202020204" pitchFamily="34" charset="0"/>
                <a:cs typeface="Arial" panose="020B0604020202020204" pitchFamily="34" charset="0"/>
              </a:rPr>
              <a:t>1) Chat Input</a:t>
            </a:r>
          </a:p>
          <a:p>
            <a:r>
              <a:rPr lang="en-US" sz="2000" dirty="0">
                <a:latin typeface="Arial" panose="020B0604020202020204" pitchFamily="34" charset="0"/>
                <a:cs typeface="Arial" panose="020B0604020202020204" pitchFamily="34" charset="0"/>
              </a:rPr>
              <a:t>Interface where users enter fitness-related queries such as workout plans, healthy eating guidance, hydration advice, weight loss, muscle gain, and recovery tips.</a:t>
            </a:r>
          </a:p>
          <a:p>
            <a:r>
              <a:rPr lang="en-US" sz="2000" b="1" dirty="0">
                <a:latin typeface="Arial" panose="020B0604020202020204" pitchFamily="34" charset="0"/>
                <a:cs typeface="Arial" panose="020B0604020202020204" pitchFamily="34" charset="0"/>
              </a:rPr>
              <a:t>2) AI Fitness Buddy Agent</a:t>
            </a:r>
          </a:p>
          <a:p>
            <a:r>
              <a:rPr lang="en-US" sz="2000" dirty="0">
                <a:latin typeface="Arial" panose="020B0604020202020204" pitchFamily="34" charset="0"/>
                <a:cs typeface="Arial" panose="020B0604020202020204" pitchFamily="34" charset="0"/>
              </a:rPr>
              <a:t>Processes user queries and retrieves relevant information from the uploaded Fitness Knowledge Base to generate accurate and structured responses.</a:t>
            </a:r>
          </a:p>
          <a:p>
            <a:r>
              <a:rPr lang="en-US" sz="2000" b="1" dirty="0">
                <a:latin typeface="Arial" panose="020B0604020202020204" pitchFamily="34" charset="0"/>
                <a:cs typeface="Arial" panose="020B0604020202020204" pitchFamily="34" charset="0"/>
              </a:rPr>
              <a:t>3) IBM Foundation Model</a:t>
            </a:r>
          </a:p>
          <a:p>
            <a:r>
              <a:rPr lang="en-US" sz="2000" dirty="0">
                <a:latin typeface="Arial" panose="020B0604020202020204" pitchFamily="34" charset="0"/>
                <a:cs typeface="Arial" panose="020B0604020202020204" pitchFamily="34" charset="0"/>
              </a:rPr>
              <a:t>Provides natural language understanding, reasoning, and response generation for the Fitness Buddy agent.</a:t>
            </a:r>
          </a:p>
          <a:p>
            <a:r>
              <a:rPr lang="en-US" sz="2000" b="1" dirty="0">
                <a:latin typeface="Arial" panose="020B0604020202020204" pitchFamily="34" charset="0"/>
                <a:cs typeface="Arial" panose="020B0604020202020204" pitchFamily="34" charset="0"/>
              </a:rPr>
              <a:t>4) Knowledge Source</a:t>
            </a:r>
          </a:p>
          <a:p>
            <a:r>
              <a:rPr lang="en-US" sz="2000" dirty="0">
                <a:latin typeface="Arial" panose="020B0604020202020204" pitchFamily="34" charset="0"/>
                <a:cs typeface="Arial" panose="020B0604020202020204" pitchFamily="34" charset="0"/>
              </a:rPr>
              <a:t>Uses the uploaded </a:t>
            </a:r>
            <a:r>
              <a:rPr lang="en-US" sz="2000" b="1" dirty="0">
                <a:latin typeface="Arial" panose="020B0604020202020204" pitchFamily="34" charset="0"/>
                <a:cs typeface="Arial" panose="020B0604020202020204" pitchFamily="34" charset="0"/>
              </a:rPr>
              <a:t>Fitness Knowledge Base</a:t>
            </a:r>
            <a:r>
              <a:rPr lang="en-US" sz="2000" dirty="0">
                <a:latin typeface="Arial" panose="020B0604020202020204" pitchFamily="34" charset="0"/>
                <a:cs typeface="Arial" panose="020B0604020202020204" pitchFamily="34" charset="0"/>
              </a:rPr>
              <a:t> as the Retrieval-Augmented Generation (RAG) knowledge source, ensuring responses are generated only from the uploaded document.</a:t>
            </a:r>
          </a:p>
          <a:p>
            <a:r>
              <a:rPr lang="en-US" sz="2000" b="1" dirty="0">
                <a:latin typeface="Arial" panose="020B0604020202020204" pitchFamily="34" charset="0"/>
                <a:cs typeface="Arial" panose="020B0604020202020204" pitchFamily="34" charset="0"/>
              </a:rPr>
              <a:t>5) Behavior &amp; Guidelines</a:t>
            </a:r>
          </a:p>
          <a:p>
            <a:r>
              <a:rPr lang="en-US" sz="2000" dirty="0">
                <a:latin typeface="Arial" panose="020B0604020202020204" pitchFamily="34" charset="0"/>
                <a:cs typeface="Arial" panose="020B0604020202020204" pitchFamily="34" charset="0"/>
              </a:rPr>
              <a:t>Controls the agent's response style, formatting, retrieval rules, and ensures that responses are generated only from the uploaded Fitness Knowledge Base while preventing unsupported information.</a:t>
            </a:r>
          </a:p>
          <a:p>
            <a:r>
              <a:rPr lang="en-US" sz="2000" b="1" dirty="0">
                <a:latin typeface="Arial" panose="020B0604020202020204" pitchFamily="34" charset="0"/>
                <a:cs typeface="Arial" panose="020B0604020202020204" pitchFamily="34" charset="0"/>
              </a:rPr>
              <a:t>6) Chat Output</a:t>
            </a:r>
          </a:p>
          <a:p>
            <a:r>
              <a:rPr lang="en-US" sz="2000" dirty="0">
                <a:latin typeface="Arial" panose="020B0604020202020204" pitchFamily="34" charset="0"/>
                <a:cs typeface="Arial" panose="020B0604020202020204" pitchFamily="34" charset="0"/>
              </a:rPr>
              <a:t>Displays structured responses including workout plans, healthy eating guidance, hydration advice, muscle gain tips, weight loss recommendations, recovery guidance, and fitness safety tips.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4890" y="432458"/>
            <a:ext cx="3970910" cy="443711"/>
          </a:xfrm>
          <a:prstGeom prst="rect">
            <a:avLst/>
          </a:prstGeom>
        </p:spPr>
        <p:txBody>
          <a:bodyPr vert="horz" wrap="square" lIns="0" tIns="12700" rIns="0" bIns="0" rtlCol="0">
            <a:spAutoFit/>
          </a:bodyPr>
          <a:lstStyle/>
          <a:p>
            <a:pPr marL="12700">
              <a:lnSpc>
                <a:spcPct val="100000"/>
              </a:lnSpc>
              <a:spcBef>
                <a:spcPts val="100"/>
              </a:spcBef>
            </a:pPr>
            <a:r>
              <a:rPr lang="en-US" sz="2800" dirty="0"/>
              <a:t>Orchestrate Workflow</a:t>
            </a:r>
            <a:endParaRPr sz="2800" spc="-50" dirty="0"/>
          </a:p>
        </p:txBody>
      </p:sp>
      <p:pic>
        <p:nvPicPr>
          <p:cNvPr id="5" name="Picture 4">
            <a:extLst>
              <a:ext uri="{FF2B5EF4-FFF2-40B4-BE49-F238E27FC236}">
                <a16:creationId xmlns:a16="http://schemas.microsoft.com/office/drawing/2014/main" id="{685AB484-A725-847A-456C-FB9FFBE60FF0}"/>
              </a:ext>
            </a:extLst>
          </p:cNvPr>
          <p:cNvPicPr>
            <a:picLocks noChangeAspect="1"/>
          </p:cNvPicPr>
          <p:nvPr/>
        </p:nvPicPr>
        <p:blipFill>
          <a:blip r:embed="rId2"/>
          <a:stretch>
            <a:fillRect/>
          </a:stretch>
        </p:blipFill>
        <p:spPr>
          <a:xfrm>
            <a:off x="471186" y="1081097"/>
            <a:ext cx="11195006" cy="513912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latin typeface="Calibri"/>
                <a:cs typeface="Calibri"/>
              </a:rPr>
              <a:t>Architecture</a:t>
            </a:r>
            <a:r>
              <a:rPr spc="-90" dirty="0">
                <a:latin typeface="Calibri"/>
                <a:cs typeface="Calibri"/>
              </a:rPr>
              <a:t> </a:t>
            </a:r>
            <a:r>
              <a:rPr spc="-10" dirty="0">
                <a:latin typeface="Calibri"/>
                <a:cs typeface="Calibri"/>
              </a:rPr>
              <a:t>blueprint</a:t>
            </a:r>
          </a:p>
        </p:txBody>
      </p:sp>
      <p:pic>
        <p:nvPicPr>
          <p:cNvPr id="5" name="Picture 4">
            <a:extLst>
              <a:ext uri="{FF2B5EF4-FFF2-40B4-BE49-F238E27FC236}">
                <a16:creationId xmlns:a16="http://schemas.microsoft.com/office/drawing/2014/main" id="{98CAFE20-2EDA-F847-ADA5-D9ED1734CC7E}"/>
              </a:ext>
            </a:extLst>
          </p:cNvPr>
          <p:cNvPicPr>
            <a:picLocks noChangeAspect="1"/>
          </p:cNvPicPr>
          <p:nvPr/>
        </p:nvPicPr>
        <p:blipFill>
          <a:blip r:embed="rId2"/>
          <a:stretch>
            <a:fillRect/>
          </a:stretch>
        </p:blipFill>
        <p:spPr>
          <a:xfrm>
            <a:off x="2510796" y="956332"/>
            <a:ext cx="7170407" cy="54153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685800" y="838200"/>
            <a:ext cx="10277983" cy="4796185"/>
          </a:xfrm>
          <a:prstGeom prst="rect">
            <a:avLst/>
          </a:prstGeom>
        </p:spPr>
        <p:txBody>
          <a:bodyPr vert="horz" wrap="square" lIns="0" tIns="12700" rIns="0" bIns="0" rtlCol="0">
            <a:spAutoFit/>
          </a:bodyPr>
          <a:lstStyle/>
          <a:p>
            <a:r>
              <a:rPr lang="en-US" sz="2800" b="1" dirty="0"/>
              <a:t>Role of Agentic AI in the Solution</a:t>
            </a:r>
          </a:p>
          <a:p>
            <a:endParaRPr lang="en-US" sz="2800" b="1" dirty="0"/>
          </a:p>
          <a:p>
            <a:r>
              <a:rPr lang="en-US" sz="2000" dirty="0">
                <a:latin typeface="Arial" panose="020B0604020202020204" pitchFamily="34" charset="0"/>
                <a:cs typeface="Arial" panose="020B0604020202020204" pitchFamily="34" charset="0"/>
              </a:rPr>
              <a:t>Agentic AI enables the </a:t>
            </a:r>
            <a:r>
              <a:rPr lang="en-US" sz="2000" b="1" dirty="0">
                <a:latin typeface="Arial" panose="020B0604020202020204" pitchFamily="34" charset="0"/>
                <a:cs typeface="Arial" panose="020B0604020202020204" pitchFamily="34" charset="0"/>
              </a:rPr>
              <a:t>Fitness Buddy</a:t>
            </a:r>
            <a:r>
              <a:rPr lang="en-US" sz="2000" dirty="0">
                <a:latin typeface="Arial" panose="020B0604020202020204" pitchFamily="34" charset="0"/>
                <a:cs typeface="Arial" panose="020B0604020202020204" pitchFamily="34" charset="0"/>
              </a:rPr>
              <a:t> to function as an intelligent and goal-oriented fitness assistant rather than a simple question-answering chatbot. Built using </a:t>
            </a:r>
            <a:r>
              <a:rPr lang="en-US" sz="2000" b="1" dirty="0">
                <a:latin typeface="Arial" panose="020B0604020202020204" pitchFamily="34" charset="0"/>
                <a:cs typeface="Arial" panose="020B0604020202020204" pitchFamily="34" charset="0"/>
              </a:rPr>
              <a:t>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Orchestrate</a:t>
            </a:r>
            <a:r>
              <a:rPr lang="en-US" sz="2000" dirty="0">
                <a:latin typeface="Arial" panose="020B0604020202020204" pitchFamily="34" charset="0"/>
                <a:cs typeface="Arial" panose="020B0604020202020204" pitchFamily="34" charset="0"/>
              </a:rPr>
              <a:t>, the agent understands user queries, retrieves relevant information from the uploaded </a:t>
            </a:r>
            <a:r>
              <a:rPr lang="en-US" sz="2000" b="1" dirty="0">
                <a:latin typeface="Arial" panose="020B0604020202020204" pitchFamily="34" charset="0"/>
                <a:cs typeface="Arial" panose="020B0604020202020204" pitchFamily="34" charset="0"/>
              </a:rPr>
              <a:t>Fitness Knowledge Base</a:t>
            </a:r>
            <a:r>
              <a:rPr lang="en-US" sz="2000" dirty="0">
                <a:latin typeface="Arial" panose="020B0604020202020204" pitchFamily="34" charset="0"/>
                <a:cs typeface="Arial" panose="020B0604020202020204" pitchFamily="34" charset="0"/>
              </a:rPr>
              <a:t>, and generates accurate, structured responses using Retrieval-Augmented Generation (RAG).</a:t>
            </a:r>
          </a:p>
          <a:p>
            <a:r>
              <a:rPr lang="en-US" sz="2000" dirty="0">
                <a:latin typeface="Arial" panose="020B0604020202020204" pitchFamily="34" charset="0"/>
                <a:cs typeface="Arial" panose="020B0604020202020204" pitchFamily="34" charset="0"/>
              </a:rPr>
              <a:t>The agent can interpret different fitness-related requests, such as beginner workout plans, healthy eating guidance, hydration advice, muscle gain tips, weight loss recommendations, and recovery suggestions. By following predefined behavior instructions and guidelines, it provides consistent, safe, and beginner-friendly responses while ensuring that answers are generated only from the uploaded knowledge base.</a:t>
            </a:r>
          </a:p>
          <a:p>
            <a:r>
              <a:rPr lang="en-US" sz="2000" dirty="0">
                <a:latin typeface="Arial" panose="020B0604020202020204" pitchFamily="34" charset="0"/>
                <a:cs typeface="Arial" panose="020B0604020202020204" pitchFamily="34" charset="0"/>
              </a:rPr>
              <a:t>Overall, Agentic AI makes the solution intelligent, reliable, context-aware, and user-friendly, helping individuals achieve their fitness goals with trustworthy AI-powered guidance.</a:t>
            </a:r>
          </a:p>
          <a:p>
            <a:pPr marL="12700">
              <a:lnSpc>
                <a:spcPct val="100000"/>
              </a:lnSpc>
              <a:spcBef>
                <a:spcPts val="100"/>
              </a:spcBef>
            </a:pPr>
            <a:endParaRPr sz="1400" dirty="0">
              <a:latin typeface="Arial MT"/>
              <a:cs typeface="Arial M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4890" y="292608"/>
            <a:ext cx="6401563" cy="443711"/>
          </a:xfrm>
          <a:prstGeom prst="rect">
            <a:avLst/>
          </a:prstGeom>
        </p:spPr>
        <p:txBody>
          <a:bodyPr vert="horz" wrap="square" lIns="0" tIns="12700" rIns="0" bIns="0" rtlCol="0">
            <a:spAutoFit/>
          </a:bodyPr>
          <a:lstStyle/>
          <a:p>
            <a:pPr marL="267970">
              <a:lnSpc>
                <a:spcPct val="100000"/>
              </a:lnSpc>
              <a:spcBef>
                <a:spcPts val="100"/>
              </a:spcBef>
            </a:pPr>
            <a:r>
              <a:rPr sz="2800" spc="-25" dirty="0"/>
              <a:t>Token</a:t>
            </a:r>
            <a:r>
              <a:rPr sz="2800" spc="-120" dirty="0"/>
              <a:t> </a:t>
            </a:r>
            <a:r>
              <a:rPr sz="2800" spc="-10" dirty="0"/>
              <a:t>Usage</a:t>
            </a:r>
          </a:p>
        </p:txBody>
      </p:sp>
      <p:sp>
        <p:nvSpPr>
          <p:cNvPr id="3" name="object 3"/>
          <p:cNvSpPr txBox="1"/>
          <p:nvPr/>
        </p:nvSpPr>
        <p:spPr>
          <a:xfrm>
            <a:off x="1218724" y="3376401"/>
            <a:ext cx="78740" cy="1296035"/>
          </a:xfrm>
          <a:prstGeom prst="rect">
            <a:avLst/>
          </a:prstGeom>
        </p:spPr>
        <p:txBody>
          <a:bodyPr vert="horz" wrap="square" lIns="0" tIns="0" rIns="0" bIns="0" rtlCol="0">
            <a:spAutoFit/>
          </a:bodyPr>
          <a:lstStyle/>
          <a:p>
            <a:pPr>
              <a:lnSpc>
                <a:spcPts val="2020"/>
              </a:lnSpc>
            </a:pPr>
            <a:r>
              <a:rPr sz="1850" spc="-50" dirty="0">
                <a:solidFill>
                  <a:srgbClr val="2B3541"/>
                </a:solidFill>
                <a:latin typeface="Times New Roman"/>
                <a:cs typeface="Times New Roman"/>
              </a:rPr>
              <a:t>·</a:t>
            </a:r>
            <a:endParaRPr sz="1850">
              <a:latin typeface="Times New Roman"/>
              <a:cs typeface="Times New Roman"/>
            </a:endParaRPr>
          </a:p>
          <a:p>
            <a:pPr>
              <a:lnSpc>
                <a:spcPct val="100000"/>
              </a:lnSpc>
            </a:pPr>
            <a:endParaRPr sz="1850">
              <a:latin typeface="Times New Roman"/>
              <a:cs typeface="Times New Roman"/>
            </a:endParaRPr>
          </a:p>
          <a:p>
            <a:pPr>
              <a:lnSpc>
                <a:spcPct val="100000"/>
              </a:lnSpc>
              <a:spcBef>
                <a:spcPts val="1675"/>
              </a:spcBef>
            </a:pPr>
            <a:endParaRPr sz="1850">
              <a:latin typeface="Times New Roman"/>
              <a:cs typeface="Times New Roman"/>
            </a:endParaRPr>
          </a:p>
          <a:p>
            <a:pPr>
              <a:lnSpc>
                <a:spcPct val="100000"/>
              </a:lnSpc>
            </a:pPr>
            <a:r>
              <a:rPr sz="1850" spc="-50" dirty="0">
                <a:solidFill>
                  <a:srgbClr val="2B3541"/>
                </a:solidFill>
                <a:latin typeface="Times New Roman"/>
                <a:cs typeface="Times New Roman"/>
              </a:rPr>
              <a:t>·</a:t>
            </a:r>
            <a:endParaRPr sz="1850">
              <a:latin typeface="Times New Roman"/>
              <a:cs typeface="Times New Roman"/>
            </a:endParaRPr>
          </a:p>
        </p:txBody>
      </p:sp>
      <p:sp>
        <p:nvSpPr>
          <p:cNvPr id="4" name="object 4"/>
          <p:cNvSpPr txBox="1"/>
          <p:nvPr/>
        </p:nvSpPr>
        <p:spPr>
          <a:xfrm>
            <a:off x="1206024" y="5408615"/>
            <a:ext cx="104139" cy="307340"/>
          </a:xfrm>
          <a:prstGeom prst="rect">
            <a:avLst/>
          </a:prstGeom>
        </p:spPr>
        <p:txBody>
          <a:bodyPr vert="horz" wrap="square" lIns="0" tIns="12700" rIns="0" bIns="0" rtlCol="0">
            <a:spAutoFit/>
          </a:bodyPr>
          <a:lstStyle/>
          <a:p>
            <a:pPr marL="12700">
              <a:lnSpc>
                <a:spcPct val="100000"/>
              </a:lnSpc>
              <a:spcBef>
                <a:spcPts val="100"/>
              </a:spcBef>
            </a:pPr>
            <a:r>
              <a:rPr sz="1850" spc="-50" dirty="0">
                <a:solidFill>
                  <a:srgbClr val="2B3541"/>
                </a:solidFill>
                <a:latin typeface="Times New Roman"/>
                <a:cs typeface="Times New Roman"/>
              </a:rPr>
              <a:t>·</a:t>
            </a:r>
            <a:endParaRPr sz="1850">
              <a:latin typeface="Times New Roman"/>
              <a:cs typeface="Times New Roman"/>
            </a:endParaRPr>
          </a:p>
        </p:txBody>
      </p:sp>
      <p:sp>
        <p:nvSpPr>
          <p:cNvPr id="5" name="object 5"/>
          <p:cNvSpPr txBox="1"/>
          <p:nvPr/>
        </p:nvSpPr>
        <p:spPr>
          <a:xfrm>
            <a:off x="838200" y="5763831"/>
            <a:ext cx="10622403" cy="936154"/>
          </a:xfrm>
          <a:prstGeom prst="rect">
            <a:avLst/>
          </a:prstGeom>
        </p:spPr>
        <p:txBody>
          <a:bodyPr vert="horz" wrap="square" lIns="0" tIns="12700" rIns="0" bIns="0" rtlCol="0">
            <a:spAutoFit/>
          </a:bodyPr>
          <a:lstStyle/>
          <a:p>
            <a:pPr marL="12700">
              <a:lnSpc>
                <a:spcPct val="100000"/>
              </a:lnSpc>
              <a:spcBef>
                <a:spcPts val="100"/>
              </a:spcBef>
            </a:pPr>
            <a:r>
              <a:rPr lang="en-US" sz="2000" dirty="0">
                <a:latin typeface="Arial" panose="020B0604020202020204" pitchFamily="34" charset="0"/>
                <a:cs typeface="Arial" panose="020B0604020202020204" pitchFamily="34" charset="0"/>
              </a:rPr>
              <a:t>The Fitness Buddy agent successfully retrieved information from the uploaded Fitness Knowledge Base and generated a structured, beginner-friendly response using IBM </a:t>
            </a:r>
            <a:r>
              <a:rPr lang="en-US" sz="2000" dirty="0" err="1">
                <a:latin typeface="Arial" panose="020B0604020202020204" pitchFamily="34" charset="0"/>
                <a:cs typeface="Arial" panose="020B0604020202020204" pitchFamily="34" charset="0"/>
              </a:rPr>
              <a:t>watsonx</a:t>
            </a:r>
            <a:r>
              <a:rPr lang="en-US" sz="2000" dirty="0">
                <a:latin typeface="Arial" panose="020B0604020202020204" pitchFamily="34" charset="0"/>
                <a:cs typeface="Arial" panose="020B0604020202020204" pitchFamily="34" charset="0"/>
              </a:rPr>
              <a:t> Orchestrate.</a:t>
            </a:r>
            <a:endParaRPr sz="2000" dirty="0">
              <a:latin typeface="Arial" panose="020B0604020202020204" pitchFamily="34" charset="0"/>
              <a:cs typeface="Arial" panose="020B0604020202020204" pitchFamily="34" charset="0"/>
            </a:endParaRPr>
          </a:p>
        </p:txBody>
      </p:sp>
      <p:sp>
        <p:nvSpPr>
          <p:cNvPr id="8" name="object 8"/>
          <p:cNvSpPr txBox="1"/>
          <p:nvPr/>
        </p:nvSpPr>
        <p:spPr>
          <a:xfrm>
            <a:off x="1282224" y="939308"/>
            <a:ext cx="1661795" cy="330200"/>
          </a:xfrm>
          <a:prstGeom prst="rect">
            <a:avLst/>
          </a:prstGeom>
        </p:spPr>
        <p:txBody>
          <a:bodyPr vert="horz" wrap="square" lIns="0" tIns="12700" rIns="0" bIns="0" rtlCol="0">
            <a:spAutoFit/>
          </a:bodyPr>
          <a:lstStyle/>
          <a:p>
            <a:pPr marL="12700">
              <a:lnSpc>
                <a:spcPct val="100000"/>
              </a:lnSpc>
              <a:spcBef>
                <a:spcPts val="100"/>
              </a:spcBef>
            </a:pPr>
            <a:r>
              <a:rPr sz="2000" u="heavy" dirty="0">
                <a:uFill>
                  <a:solidFill>
                    <a:srgbClr val="000000"/>
                  </a:solidFill>
                </a:uFill>
                <a:latin typeface="Arial MT"/>
                <a:cs typeface="Arial MT"/>
              </a:rPr>
              <a:t>Before</a:t>
            </a:r>
            <a:r>
              <a:rPr sz="2000" u="heavy" spc="-45" dirty="0">
                <a:uFill>
                  <a:solidFill>
                    <a:srgbClr val="000000"/>
                  </a:solidFill>
                </a:uFill>
                <a:latin typeface="Arial MT"/>
                <a:cs typeface="Arial MT"/>
              </a:rPr>
              <a:t> </a:t>
            </a:r>
            <a:r>
              <a:rPr sz="2000" u="heavy" spc="-10" dirty="0">
                <a:uFill>
                  <a:solidFill>
                    <a:srgbClr val="000000"/>
                  </a:solidFill>
                </a:uFill>
                <a:latin typeface="Arial MT"/>
                <a:cs typeface="Arial MT"/>
              </a:rPr>
              <a:t>Prompt</a:t>
            </a:r>
            <a:endParaRPr sz="2000" dirty="0">
              <a:latin typeface="Arial MT"/>
              <a:cs typeface="Arial MT"/>
            </a:endParaRPr>
          </a:p>
        </p:txBody>
      </p:sp>
      <p:sp>
        <p:nvSpPr>
          <p:cNvPr id="9" name="object 9"/>
          <p:cNvSpPr txBox="1"/>
          <p:nvPr/>
        </p:nvSpPr>
        <p:spPr>
          <a:xfrm>
            <a:off x="7696200" y="939308"/>
            <a:ext cx="1873250" cy="330200"/>
          </a:xfrm>
          <a:prstGeom prst="rect">
            <a:avLst/>
          </a:prstGeom>
        </p:spPr>
        <p:txBody>
          <a:bodyPr vert="horz" wrap="square" lIns="0" tIns="12700" rIns="0" bIns="0" rtlCol="0">
            <a:spAutoFit/>
          </a:bodyPr>
          <a:lstStyle/>
          <a:p>
            <a:pPr marL="12700">
              <a:lnSpc>
                <a:spcPct val="100000"/>
              </a:lnSpc>
              <a:spcBef>
                <a:spcPts val="100"/>
              </a:spcBef>
            </a:pPr>
            <a:r>
              <a:rPr sz="2000" u="heavy" dirty="0">
                <a:uFill>
                  <a:solidFill>
                    <a:srgbClr val="000000"/>
                  </a:solidFill>
                </a:uFill>
                <a:latin typeface="Arial MT"/>
                <a:cs typeface="Arial MT"/>
              </a:rPr>
              <a:t>After</a:t>
            </a:r>
            <a:r>
              <a:rPr sz="2000" u="heavy" spc="-20" dirty="0">
                <a:uFill>
                  <a:solidFill>
                    <a:srgbClr val="000000"/>
                  </a:solidFill>
                </a:uFill>
                <a:latin typeface="Arial MT"/>
                <a:cs typeface="Arial MT"/>
              </a:rPr>
              <a:t> </a:t>
            </a:r>
            <a:r>
              <a:rPr sz="2000" u="heavy" dirty="0">
                <a:uFill>
                  <a:solidFill>
                    <a:srgbClr val="000000"/>
                  </a:solidFill>
                </a:uFill>
                <a:latin typeface="Arial MT"/>
                <a:cs typeface="Arial MT"/>
              </a:rPr>
              <a:t>the</a:t>
            </a:r>
            <a:r>
              <a:rPr sz="2000" u="heavy" spc="-15" dirty="0">
                <a:uFill>
                  <a:solidFill>
                    <a:srgbClr val="000000"/>
                  </a:solidFill>
                </a:uFill>
                <a:latin typeface="Arial MT"/>
                <a:cs typeface="Arial MT"/>
              </a:rPr>
              <a:t> </a:t>
            </a:r>
            <a:r>
              <a:rPr sz="2000" u="heavy" spc="-10" dirty="0">
                <a:uFill>
                  <a:solidFill>
                    <a:srgbClr val="000000"/>
                  </a:solidFill>
                </a:uFill>
                <a:latin typeface="Arial MT"/>
                <a:cs typeface="Arial MT"/>
              </a:rPr>
              <a:t>Prompt</a:t>
            </a:r>
            <a:endParaRPr sz="2000" dirty="0">
              <a:latin typeface="Arial MT"/>
              <a:cs typeface="Arial MT"/>
            </a:endParaRPr>
          </a:p>
        </p:txBody>
      </p:sp>
      <p:pic>
        <p:nvPicPr>
          <p:cNvPr id="11" name="Picture 10">
            <a:extLst>
              <a:ext uri="{FF2B5EF4-FFF2-40B4-BE49-F238E27FC236}">
                <a16:creationId xmlns:a16="http://schemas.microsoft.com/office/drawing/2014/main" id="{EFEA44B9-0414-C027-768F-31F1AB40C127}"/>
              </a:ext>
            </a:extLst>
          </p:cNvPr>
          <p:cNvPicPr>
            <a:picLocks noChangeAspect="1"/>
          </p:cNvPicPr>
          <p:nvPr/>
        </p:nvPicPr>
        <p:blipFill>
          <a:blip r:embed="rId2"/>
          <a:stretch>
            <a:fillRect/>
          </a:stretch>
        </p:blipFill>
        <p:spPr>
          <a:xfrm>
            <a:off x="6583122" y="1601877"/>
            <a:ext cx="4877481" cy="3829584"/>
          </a:xfrm>
          <a:prstGeom prst="rect">
            <a:avLst/>
          </a:prstGeom>
        </p:spPr>
      </p:pic>
      <p:pic>
        <p:nvPicPr>
          <p:cNvPr id="13" name="Picture 12">
            <a:extLst>
              <a:ext uri="{FF2B5EF4-FFF2-40B4-BE49-F238E27FC236}">
                <a16:creationId xmlns:a16="http://schemas.microsoft.com/office/drawing/2014/main" id="{7E6EBCB4-43FF-940D-5286-95E5387B0DD8}"/>
              </a:ext>
            </a:extLst>
          </p:cNvPr>
          <p:cNvPicPr>
            <a:picLocks noChangeAspect="1"/>
          </p:cNvPicPr>
          <p:nvPr/>
        </p:nvPicPr>
        <p:blipFill>
          <a:blip r:embed="rId3"/>
          <a:stretch>
            <a:fillRect/>
          </a:stretch>
        </p:blipFill>
        <p:spPr>
          <a:xfrm>
            <a:off x="1066800" y="1571448"/>
            <a:ext cx="3620666" cy="389044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762000" y="991153"/>
            <a:ext cx="10427335" cy="4875694"/>
          </a:xfrm>
          <a:prstGeom prst="rect">
            <a:avLst/>
          </a:prstGeom>
        </p:spPr>
        <p:txBody>
          <a:bodyPr vert="horz" wrap="square" lIns="0" tIns="12700" rIns="0" bIns="0" rtlCol="0">
            <a:spAutoFit/>
          </a:bodyPr>
          <a:lstStyle/>
          <a:p>
            <a:r>
              <a:rPr lang="en-US" sz="2800" b="1" dirty="0">
                <a:latin typeface="Arial" panose="020B0604020202020204" pitchFamily="34" charset="0"/>
                <a:cs typeface="Arial" panose="020B0604020202020204" pitchFamily="34" charset="0"/>
              </a:rPr>
              <a:t>Novelty and Uniqueness</a:t>
            </a:r>
          </a:p>
          <a:p>
            <a:endParaRPr lang="en-US"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dirty="0">
                <a:latin typeface="Arial" panose="020B0604020202020204" pitchFamily="34" charset="0"/>
                <a:cs typeface="Arial" panose="020B0604020202020204" pitchFamily="34" charset="0"/>
              </a:rPr>
              <a:t>The proposed </a:t>
            </a:r>
            <a:r>
              <a:rPr lang="en-US" sz="2000" b="1" dirty="0">
                <a:latin typeface="Arial" panose="020B0604020202020204" pitchFamily="34" charset="0"/>
                <a:cs typeface="Arial" panose="020B0604020202020204" pitchFamily="34" charset="0"/>
              </a:rPr>
              <a:t>Fitness Buddy</a:t>
            </a:r>
            <a:r>
              <a:rPr lang="en-US" sz="2000" dirty="0">
                <a:latin typeface="Arial" panose="020B0604020202020204" pitchFamily="34" charset="0"/>
                <a:cs typeface="Arial" panose="020B0604020202020204" pitchFamily="34" charset="0"/>
              </a:rPr>
              <a:t> stands out by combining </a:t>
            </a:r>
            <a:r>
              <a:rPr lang="en-US" sz="2000" b="1" dirty="0">
                <a:latin typeface="Arial" panose="020B0604020202020204" pitchFamily="34" charset="0"/>
                <a:cs typeface="Arial" panose="020B0604020202020204" pitchFamily="34" charset="0"/>
              </a:rPr>
              <a:t>Agentic AI</a:t>
            </a:r>
            <a:r>
              <a:rPr lang="en-US" sz="2000" dirty="0">
                <a:latin typeface="Arial" panose="020B0604020202020204" pitchFamily="34" charset="0"/>
                <a:cs typeface="Arial" panose="020B0604020202020204" pitchFamily="34" charset="0"/>
              </a:rPr>
              <a:t>, </a:t>
            </a:r>
            <a:r>
              <a:rPr lang="en-US" sz="2000" b="1" dirty="0">
                <a:latin typeface="Arial" panose="020B0604020202020204" pitchFamily="34" charset="0"/>
                <a:cs typeface="Arial" panose="020B0604020202020204" pitchFamily="34" charset="0"/>
              </a:rPr>
              <a:t>Retrieval-Augmented Generation (RAG)</a:t>
            </a:r>
            <a:r>
              <a:rPr lang="en-US" sz="2000" dirty="0">
                <a:latin typeface="Arial" panose="020B0604020202020204" pitchFamily="34" charset="0"/>
                <a:cs typeface="Arial" panose="020B0604020202020204" pitchFamily="34" charset="0"/>
              </a:rPr>
              <a:t>, and a </a:t>
            </a:r>
            <a:r>
              <a:rPr lang="en-US" sz="2000" b="1" dirty="0">
                <a:latin typeface="Arial" panose="020B0604020202020204" pitchFamily="34" charset="0"/>
                <a:cs typeface="Arial" panose="020B0604020202020204" pitchFamily="34" charset="0"/>
              </a:rPr>
              <a:t>knowledge-driven fitness assistant</a:t>
            </a:r>
            <a:r>
              <a:rPr lang="en-US" sz="2000" dirty="0">
                <a:latin typeface="Arial" panose="020B0604020202020204" pitchFamily="34" charset="0"/>
                <a:cs typeface="Arial" panose="020B0604020202020204" pitchFamily="34" charset="0"/>
              </a:rPr>
              <a:t> into a single intelligent solution.</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Knowledge-Base Driven Responses</a:t>
            </a:r>
            <a:r>
              <a:rPr lang="en-US" sz="2000" dirty="0">
                <a:latin typeface="Arial" panose="020B0604020202020204" pitchFamily="34" charset="0"/>
                <a:cs typeface="Arial" panose="020B0604020202020204" pitchFamily="34" charset="0"/>
              </a:rPr>
              <a:t> – Answers are generated only from the uploaded Fitness Knowledge Base, ensuring accurate and reliable information.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AI-Powered Fitness Guidance</a:t>
            </a:r>
            <a:r>
              <a:rPr lang="en-US" sz="2000" dirty="0">
                <a:latin typeface="Arial" panose="020B0604020202020204" pitchFamily="34" charset="0"/>
                <a:cs typeface="Arial" panose="020B0604020202020204" pitchFamily="34" charset="0"/>
              </a:rPr>
              <a:t> – Provides beginner workout plans, healthy eating guidance, hydration advice, and recovery tips.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Safe Recommendations</a:t>
            </a:r>
            <a:r>
              <a:rPr lang="en-US" sz="2000" dirty="0">
                <a:latin typeface="Arial" panose="020B0604020202020204" pitchFamily="34" charset="0"/>
                <a:cs typeface="Arial" panose="020B0604020202020204" pitchFamily="34" charset="0"/>
              </a:rPr>
              <a:t> – Avoids unsupported or unsafe fitness advice by following predefined behavior instructions and guidelines.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Structured Responses</a:t>
            </a:r>
            <a:r>
              <a:rPr lang="en-US" sz="2000" dirty="0">
                <a:latin typeface="Arial" panose="020B0604020202020204" pitchFamily="34" charset="0"/>
                <a:cs typeface="Arial" panose="020B0604020202020204" pitchFamily="34" charset="0"/>
              </a:rPr>
              <a:t> – Presents information in a clear and beginner-friendly format for improved user experience.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Built with IBM </a:t>
            </a:r>
            <a:r>
              <a:rPr lang="en-US" sz="2000" b="1" dirty="0" err="1">
                <a:latin typeface="Arial" panose="020B0604020202020204" pitchFamily="34" charset="0"/>
                <a:cs typeface="Arial" panose="020B0604020202020204" pitchFamily="34" charset="0"/>
              </a:rPr>
              <a:t>watsonx</a:t>
            </a:r>
            <a:r>
              <a:rPr lang="en-US" sz="2000" b="1" dirty="0">
                <a:latin typeface="Arial" panose="020B0604020202020204" pitchFamily="34" charset="0"/>
                <a:cs typeface="Arial" panose="020B0604020202020204" pitchFamily="34" charset="0"/>
              </a:rPr>
              <a:t> Orchestrate</a:t>
            </a:r>
            <a:r>
              <a:rPr lang="en-US" sz="2000" dirty="0">
                <a:latin typeface="Arial" panose="020B0604020202020204" pitchFamily="34" charset="0"/>
                <a:cs typeface="Arial" panose="020B0604020202020204" pitchFamily="34" charset="0"/>
              </a:rPr>
              <a:t> – Demonstrates how IBM Agentic AI can be used to create a domain-specific AI assistant without building a custom application.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167924" y="1131613"/>
            <a:ext cx="9262110" cy="2608406"/>
          </a:xfrm>
          <a:prstGeom prst="rect">
            <a:avLst/>
          </a:prstGeom>
        </p:spPr>
        <p:txBody>
          <a:bodyPr vert="horz" wrap="square" lIns="0" tIns="12700" rIns="0" bIns="0" rtlCol="0">
            <a:spAutoFit/>
          </a:bodyPr>
          <a:lstStyle/>
          <a:p>
            <a:pPr>
              <a:lnSpc>
                <a:spcPct val="100000"/>
              </a:lnSpc>
            </a:pPr>
            <a:r>
              <a:rPr lang="en-US" sz="2800" b="1" dirty="0">
                <a:latin typeface="Arial" panose="020B0604020202020204" pitchFamily="34" charset="0"/>
                <a:cs typeface="Arial" panose="020B0604020202020204" pitchFamily="34" charset="0"/>
              </a:rPr>
              <a:t>GitHub Repository</a:t>
            </a:r>
          </a:p>
          <a:p>
            <a:pPr>
              <a:lnSpc>
                <a:spcPct val="100000"/>
              </a:lnSpc>
            </a:pPr>
            <a:endParaRPr lang="en-US" sz="2800" b="1" dirty="0">
              <a:latin typeface="Arial" panose="020B0604020202020204" pitchFamily="34" charset="0"/>
              <a:cs typeface="Arial" panose="020B0604020202020204" pitchFamily="34" charset="0"/>
            </a:endParaRPr>
          </a:p>
          <a:p>
            <a:pPr>
              <a:lnSpc>
                <a:spcPct val="100000"/>
              </a:lnSpc>
            </a:pPr>
            <a:r>
              <a:rPr lang="en-US" sz="2400" dirty="0"/>
              <a:t>Project Repository:</a:t>
            </a:r>
            <a:endParaRPr lang="en-US" sz="2400" b="1" dirty="0">
              <a:latin typeface="Arial" panose="020B0604020202020204" pitchFamily="34" charset="0"/>
              <a:cs typeface="Arial" panose="020B0604020202020204" pitchFamily="34" charset="0"/>
            </a:endParaRPr>
          </a:p>
          <a:p>
            <a:pPr>
              <a:lnSpc>
                <a:spcPct val="100000"/>
              </a:lnSpc>
            </a:pPr>
            <a:endParaRPr lang="en-US" sz="1850" dirty="0">
              <a:latin typeface="Times New Roman"/>
              <a:cs typeface="Times New Roman"/>
            </a:endParaRPr>
          </a:p>
          <a:p>
            <a:pPr>
              <a:lnSpc>
                <a:spcPct val="100000"/>
              </a:lnSpc>
            </a:pPr>
            <a:r>
              <a:rPr lang="en-US" sz="2000" dirty="0">
                <a:latin typeface="Arial" panose="020B0604020202020204" pitchFamily="34" charset="0"/>
                <a:cs typeface="Arial" panose="020B0604020202020204" pitchFamily="34" charset="0"/>
                <a:hlinkClick r:id="rId2"/>
              </a:rPr>
              <a:t>https://github.com/geethika-sandireddy/AI-Powered-Fitness-Buddy</a:t>
            </a:r>
            <a:endParaRPr sz="2000" dirty="0">
              <a:latin typeface="Arial" panose="020B0604020202020204" pitchFamily="34" charset="0"/>
              <a:cs typeface="Arial" panose="020B0604020202020204" pitchFamily="34" charset="0"/>
            </a:endParaRPr>
          </a:p>
          <a:p>
            <a:pPr>
              <a:lnSpc>
                <a:spcPct val="100000"/>
              </a:lnSpc>
              <a:spcBef>
                <a:spcPts val="1050"/>
              </a:spcBef>
            </a:pPr>
            <a:endParaRPr sz="1850" dirty="0">
              <a:latin typeface="Times New Roman"/>
              <a:cs typeface="Times New Roman"/>
            </a:endParaRPr>
          </a:p>
          <a:p>
            <a:pPr marL="50800">
              <a:lnSpc>
                <a:spcPct val="100000"/>
              </a:lnSpc>
            </a:pPr>
            <a:r>
              <a:rPr sz="1850" spc="-50" dirty="0">
                <a:solidFill>
                  <a:srgbClr val="2B3541"/>
                </a:solidFill>
                <a:latin typeface="Times New Roman"/>
                <a:cs typeface="Times New Roman"/>
              </a:rPr>
              <a:t>·</a:t>
            </a:r>
            <a:endParaRPr sz="1850" dirty="0">
              <a:latin typeface="Times New Roman"/>
              <a:cs typeface="Times New Roman"/>
            </a:endParaRPr>
          </a:p>
        </p:txBody>
      </p:sp>
      <p:sp>
        <p:nvSpPr>
          <p:cNvPr id="4" name="object 4"/>
          <p:cNvSpPr txBox="1"/>
          <p:nvPr/>
        </p:nvSpPr>
        <p:spPr>
          <a:xfrm>
            <a:off x="1206024" y="5408615"/>
            <a:ext cx="104139" cy="307340"/>
          </a:xfrm>
          <a:prstGeom prst="rect">
            <a:avLst/>
          </a:prstGeom>
        </p:spPr>
        <p:txBody>
          <a:bodyPr vert="horz" wrap="square" lIns="0" tIns="12700" rIns="0" bIns="0" rtlCol="0">
            <a:spAutoFit/>
          </a:bodyPr>
          <a:lstStyle/>
          <a:p>
            <a:pPr marL="12700">
              <a:lnSpc>
                <a:spcPct val="100000"/>
              </a:lnSpc>
              <a:spcBef>
                <a:spcPts val="100"/>
              </a:spcBef>
            </a:pPr>
            <a:r>
              <a:rPr sz="1850" spc="-50" dirty="0">
                <a:solidFill>
                  <a:srgbClr val="2B3541"/>
                </a:solidFill>
                <a:latin typeface="Times New Roman"/>
                <a:cs typeface="Times New Roman"/>
              </a:rPr>
              <a:t>·</a:t>
            </a:r>
            <a:endParaRPr sz="1850">
              <a:latin typeface="Times New Roman"/>
              <a:cs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206024" y="3338118"/>
            <a:ext cx="104139" cy="307340"/>
          </a:xfrm>
          <a:prstGeom prst="rect">
            <a:avLst/>
          </a:prstGeom>
        </p:spPr>
        <p:txBody>
          <a:bodyPr vert="horz" wrap="square" lIns="0" tIns="12700" rIns="0" bIns="0" rtlCol="0">
            <a:spAutoFit/>
          </a:bodyPr>
          <a:lstStyle/>
          <a:p>
            <a:pPr marL="12700">
              <a:lnSpc>
                <a:spcPct val="100000"/>
              </a:lnSpc>
              <a:spcBef>
                <a:spcPts val="100"/>
              </a:spcBef>
            </a:pPr>
            <a:r>
              <a:rPr sz="1850" spc="-50" dirty="0">
                <a:solidFill>
                  <a:srgbClr val="2B3541"/>
                </a:solidFill>
                <a:latin typeface="Times New Roman"/>
                <a:cs typeface="Times New Roman"/>
              </a:rPr>
              <a:t>·</a:t>
            </a:r>
            <a:endParaRPr sz="1850">
              <a:latin typeface="Times New Roman"/>
              <a:cs typeface="Times New Roman"/>
            </a:endParaRPr>
          </a:p>
        </p:txBody>
      </p:sp>
      <p:sp>
        <p:nvSpPr>
          <p:cNvPr id="4" name="object 4"/>
          <p:cNvSpPr txBox="1"/>
          <p:nvPr/>
        </p:nvSpPr>
        <p:spPr>
          <a:xfrm>
            <a:off x="762000" y="838201"/>
            <a:ext cx="10223976" cy="4703852"/>
          </a:xfrm>
          <a:prstGeom prst="rect">
            <a:avLst/>
          </a:prstGeom>
        </p:spPr>
        <p:txBody>
          <a:bodyPr vert="horz" wrap="square" lIns="0" tIns="12700" rIns="0" bIns="0" rtlCol="0">
            <a:spAutoFit/>
          </a:bodyPr>
          <a:lstStyle/>
          <a:p>
            <a:r>
              <a:rPr lang="en-US" sz="2800" b="1" dirty="0">
                <a:latin typeface="Arial" panose="020B0604020202020204" pitchFamily="34" charset="0"/>
                <a:cs typeface="Arial" panose="020B0604020202020204" pitchFamily="34" charset="0"/>
              </a:rPr>
              <a:t>Future Scope</a:t>
            </a:r>
          </a:p>
          <a:p>
            <a:endParaRPr lang="en-US" sz="2800" b="1"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Personalized Fitness Plans</a:t>
            </a:r>
            <a:r>
              <a:rPr lang="en-US" sz="2000" dirty="0">
                <a:latin typeface="Arial" panose="020B0604020202020204" pitchFamily="34" charset="0"/>
                <a:cs typeface="Arial" panose="020B0604020202020204" pitchFamily="34" charset="0"/>
              </a:rPr>
              <a:t> – Generate customized workout and nutrition plans based on age, fitness goals, and activity levels.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Wearable Device Integration</a:t>
            </a:r>
            <a:r>
              <a:rPr lang="en-US" sz="2000" dirty="0">
                <a:latin typeface="Arial" panose="020B0604020202020204" pitchFamily="34" charset="0"/>
                <a:cs typeface="Arial" panose="020B0604020202020204" pitchFamily="34" charset="0"/>
              </a:rPr>
              <a:t> – Connect with fitness trackers and smartwatches to provide real-time activity monitoring.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Voice-Based Interaction</a:t>
            </a:r>
            <a:r>
              <a:rPr lang="en-US" sz="2000" dirty="0">
                <a:latin typeface="Arial" panose="020B0604020202020204" pitchFamily="34" charset="0"/>
                <a:cs typeface="Arial" panose="020B0604020202020204" pitchFamily="34" charset="0"/>
              </a:rPr>
              <a:t> – Allow users to interact with the Fitness Buddy using voice commands for a hands-free experience.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Multilingual Support</a:t>
            </a:r>
            <a:r>
              <a:rPr lang="en-US" sz="2000" dirty="0">
                <a:latin typeface="Arial" panose="020B0604020202020204" pitchFamily="34" charset="0"/>
                <a:cs typeface="Arial" panose="020B0604020202020204" pitchFamily="34" charset="0"/>
              </a:rPr>
              <a:t> – Support multiple languages to make fitness guidance accessible to a wider audience.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BMI and Health Tracking</a:t>
            </a:r>
            <a:r>
              <a:rPr lang="en-US" sz="2000" dirty="0">
                <a:latin typeface="Arial" panose="020B0604020202020204" pitchFamily="34" charset="0"/>
                <a:cs typeface="Arial" panose="020B0604020202020204" pitchFamily="34" charset="0"/>
              </a:rPr>
              <a:t> – Include BMI calculation, calorie tracking, and progress monitoring. </a:t>
            </a:r>
          </a:p>
          <a:p>
            <a:pPr marL="342900" indent="-342900">
              <a:buFont typeface="Arial" panose="020B0604020202020204" pitchFamily="34" charset="0"/>
              <a:buChar char="•"/>
            </a:pPr>
            <a:r>
              <a:rPr lang="en-US" sz="2000" b="1" dirty="0">
                <a:latin typeface="Arial" panose="020B0604020202020204" pitchFamily="34" charset="0"/>
                <a:cs typeface="Arial" panose="020B0604020202020204" pitchFamily="34" charset="0"/>
              </a:rPr>
              <a:t>Mobile Application</a:t>
            </a:r>
            <a:r>
              <a:rPr lang="en-US" sz="2000" dirty="0">
                <a:latin typeface="Arial" panose="020B0604020202020204" pitchFamily="34" charset="0"/>
                <a:cs typeface="Arial" panose="020B0604020202020204" pitchFamily="34" charset="0"/>
              </a:rPr>
              <a:t> – Develop a mobile app for anytime, anywhere fitness assistance.</a:t>
            </a:r>
          </a:p>
          <a:p>
            <a:pPr marL="33655">
              <a:lnSpc>
                <a:spcPct val="100000"/>
              </a:lnSpc>
              <a:spcBef>
                <a:spcPts val="100"/>
              </a:spcBef>
              <a:buSzPct val="94594"/>
              <a:tabLst>
                <a:tab pos="212725" algn="l"/>
              </a:tabLst>
            </a:pPr>
            <a:endParaRPr sz="2800" dirty="0">
              <a:latin typeface="Arial" panose="020B060402020202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ctrTitle"/>
          </p:nvPr>
        </p:nvSpPr>
        <p:spPr>
          <a:xfrm>
            <a:off x="249720" y="220588"/>
            <a:ext cx="3865080" cy="443711"/>
          </a:xfrm>
          <a:prstGeom prst="rect">
            <a:avLst/>
          </a:prstGeom>
        </p:spPr>
        <p:txBody>
          <a:bodyPr vert="horz" wrap="square" lIns="0" tIns="12700" rIns="0" bIns="0" rtlCol="0">
            <a:spAutoFit/>
          </a:bodyPr>
          <a:lstStyle/>
          <a:p>
            <a:pPr marL="163830">
              <a:lnSpc>
                <a:spcPct val="100000"/>
              </a:lnSpc>
              <a:spcBef>
                <a:spcPts val="100"/>
              </a:spcBef>
            </a:pPr>
            <a:r>
              <a:rPr sz="2800" spc="-10" dirty="0"/>
              <a:t>Certificates</a:t>
            </a:r>
            <a:r>
              <a:rPr sz="2800" spc="-75" dirty="0"/>
              <a:t> </a:t>
            </a:r>
            <a:r>
              <a:rPr sz="2800" spc="-10" dirty="0"/>
              <a:t>Earned:</a:t>
            </a:r>
          </a:p>
        </p:txBody>
      </p:sp>
      <p:pic>
        <p:nvPicPr>
          <p:cNvPr id="6" name="Picture 5">
            <a:extLst>
              <a:ext uri="{FF2B5EF4-FFF2-40B4-BE49-F238E27FC236}">
                <a16:creationId xmlns:a16="http://schemas.microsoft.com/office/drawing/2014/main" id="{86940004-9FBA-8012-D1F8-31871EE98AF9}"/>
              </a:ext>
            </a:extLst>
          </p:cNvPr>
          <p:cNvPicPr>
            <a:picLocks noChangeAspect="1"/>
          </p:cNvPicPr>
          <p:nvPr/>
        </p:nvPicPr>
        <p:blipFill>
          <a:blip r:embed="rId2"/>
          <a:stretch>
            <a:fillRect/>
          </a:stretch>
        </p:blipFill>
        <p:spPr>
          <a:xfrm>
            <a:off x="2512011" y="914400"/>
            <a:ext cx="7167978" cy="536738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descr="$PPTXTitle"/>
          <p:cNvSpPr txBox="1">
            <a:spLocks noGrp="1"/>
          </p:cNvSpPr>
          <p:nvPr>
            <p:ph type="ctrTitle"/>
          </p:nvPr>
        </p:nvSpPr>
        <p:spPr>
          <a:xfrm>
            <a:off x="249720" y="220588"/>
            <a:ext cx="3712680" cy="443711"/>
          </a:xfrm>
          <a:prstGeom prst="rect">
            <a:avLst/>
          </a:prstGeom>
        </p:spPr>
        <p:txBody>
          <a:bodyPr vert="horz" wrap="square" lIns="0" tIns="12700" rIns="0" bIns="0" rtlCol="0">
            <a:spAutoFit/>
          </a:bodyPr>
          <a:lstStyle/>
          <a:p>
            <a:pPr marL="12700">
              <a:lnSpc>
                <a:spcPct val="100000"/>
              </a:lnSpc>
              <a:spcBef>
                <a:spcPts val="100"/>
              </a:spcBef>
            </a:pPr>
            <a:r>
              <a:rPr sz="2800" spc="-10" dirty="0"/>
              <a:t>Certificates</a:t>
            </a:r>
            <a:r>
              <a:rPr sz="2800" spc="-75" dirty="0"/>
              <a:t> </a:t>
            </a:r>
            <a:r>
              <a:rPr sz="2800" spc="-10" dirty="0"/>
              <a:t>Earned:</a:t>
            </a:r>
          </a:p>
        </p:txBody>
      </p:sp>
      <p:pic>
        <p:nvPicPr>
          <p:cNvPr id="6" name="Picture 5">
            <a:extLst>
              <a:ext uri="{FF2B5EF4-FFF2-40B4-BE49-F238E27FC236}">
                <a16:creationId xmlns:a16="http://schemas.microsoft.com/office/drawing/2014/main" id="{B35487E9-2A5D-4E72-5314-B0CCD7872071}"/>
              </a:ext>
            </a:extLst>
          </p:cNvPr>
          <p:cNvPicPr>
            <a:picLocks noChangeAspect="1"/>
          </p:cNvPicPr>
          <p:nvPr/>
        </p:nvPicPr>
        <p:blipFill>
          <a:blip r:embed="rId2"/>
          <a:stretch>
            <a:fillRect/>
          </a:stretch>
        </p:blipFill>
        <p:spPr>
          <a:xfrm>
            <a:off x="1573011" y="914400"/>
            <a:ext cx="9045978" cy="558410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2190302"/>
            <a:ext cx="12191999" cy="247739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70</TotalTime>
  <Words>1038</Words>
  <Application>Microsoft Office PowerPoint</Application>
  <PresentationFormat>Widescreen</PresentationFormat>
  <Paragraphs>99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Arial MT</vt:lpstr>
      <vt:lpstr>Calibri</vt:lpstr>
      <vt:lpstr>Times New Roman</vt:lpstr>
      <vt:lpstr>Office Theme</vt:lpstr>
      <vt:lpstr>IBM University Engagement Project Submission “Exploring the Power of Agentic AI with IBM Cloud and Orchestrate” </vt:lpstr>
      <vt:lpstr>Project Tile –</vt:lpstr>
      <vt:lpstr>PowerPoint Presentation</vt:lpstr>
      <vt:lpstr>PowerPoint Presentation</vt:lpstr>
      <vt:lpstr>PowerPoint Presentation</vt:lpstr>
      <vt:lpstr>PowerPoint Presentation</vt:lpstr>
      <vt:lpstr>Orchestrate Workflow</vt:lpstr>
      <vt:lpstr>Architecture blueprint</vt:lpstr>
      <vt:lpstr>PowerPoint Presentation</vt:lpstr>
      <vt:lpstr>Token Usage</vt:lpstr>
      <vt:lpstr>PowerPoint Presentation</vt:lpstr>
      <vt:lpstr>PowerPoint Presentation</vt:lpstr>
      <vt:lpstr>PowerPoint Presentation</vt:lpstr>
      <vt:lpstr>Certificates Earned:</vt:lpstr>
      <vt:lpstr>Certificates Earned: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Geethika Reddy</cp:lastModifiedBy>
  <cp:revision>2</cp:revision>
  <dcterms:created xsi:type="dcterms:W3CDTF">2026-07-08T16:51:36Z</dcterms:created>
  <dcterms:modified xsi:type="dcterms:W3CDTF">2026-07-08T18:02:49Z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2026-07-08T00:00:00Z</vt:filetime>
  </property>
  <property fmtid="{D5CDD505-2E9C-101B-9397-08002B2CF9AE}" pid="4" name="Creator">
    <vt:lpwstr>PDFium</vt:lpwstr>
  </property>
  <property fmtid="{D5CDD505-2E9C-101B-9397-08002B2CF9AE}" pid="5" name="Producer">
    <vt:lpwstr>PDFium</vt:lpwstr>
  </property>
  <property fmtid="{D5CDD505-2E9C-101B-9397-08002B2CF9AE}" pid="6" name="LastSaved">
    <vt:filetime>2026-07-08T00:00:00Z</vt:filetime>
  </property>
</Properties>
</file>